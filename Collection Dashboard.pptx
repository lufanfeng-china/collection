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00B8-F310-312F-6363-748769847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5AFCC-A8CF-1512-8A74-BE772EC4D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1E530-7A87-2BF0-FD33-08360CFF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A0A47-0A41-CBAD-8FB2-28C490ED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13E8A-FE5B-93C7-EEFB-3B6CCF7B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0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B65A-6640-8099-B3DE-C1C4E0D9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0912C-245F-BA7C-C22F-367FD46E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5328D-135F-6911-2585-B3A6CC8A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02669-58E5-9C7B-4223-02CCF3BB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38CC3-38E1-AA19-A08F-F3F1547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1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D224-139C-0D6A-6596-465AF93B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E4A5D-49EB-91A5-2ABE-78D74EF8B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C2498-ED0C-F2DF-0D7B-A8775CDB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8098E-70BB-9DB5-8BAC-F0775325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0F4C4-F2CE-4852-502B-5FABFA65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8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5F7B-9C68-ECE4-F488-A102F5F7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3D48-B5B4-F7A8-4464-AA19930B1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EE6B5-E531-1B92-8536-FF59FFCA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26287-B990-9E8F-422D-24E1869B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F01B4-5F6C-E88E-D4AD-C87875F0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5867D-DAFA-0F7E-D6E0-618007A1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42B5-7316-A95F-0AB4-EB398E34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3D7D8-617D-4808-77AF-01C1E505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AF097-C7E8-73C4-A37B-D1A294E8A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8279-5EE1-57A6-4B00-3C4EBE000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3346B-530C-21F1-66C9-01BAD2390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AA3D02-E123-F279-BD3F-23AB9085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78C5C8-570F-EADA-8E8D-2EC48C84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534FB-F937-34B7-AD6B-9C6D6A77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3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5019-7D66-7DFB-407D-CE176D68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5EBD9-2215-8A97-D11B-68905577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AEFFE-FDFA-1679-ECDD-6763E862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0C291-FD27-B0A2-F41A-41C6345D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0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60705-9CC9-ED58-FC19-EDDCA357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752BD-46B7-0527-AF82-6D6B0B88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581ED-3B69-8B3B-3C2B-0D5481C1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9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BFB8-4310-D37F-42D0-F6108C50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9851-773C-2ACF-A0A9-47D155032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69EC0-C410-6C75-7A50-7A1551336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7BA7C-A59A-DD84-94A3-650120AD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2950-828D-6BB4-1A77-A49E83B0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6B12B-F39F-2111-FCF3-2CC705B0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4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30C5-76B2-2558-0FDC-FF10C9E9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0CB54-1DC4-54AE-DA1E-B8986E7CA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214E2-B033-EFF3-3020-5B16EF19F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CCE94-2801-5DCF-7173-A4A3F80D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07787-456A-0370-1CFC-C9075C9B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48073-D630-09A5-AC71-70FE533A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1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0C36C-692A-2D76-0A03-4A201BB8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D9CAF-29D1-B527-AF54-350A53AF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D74E-CA3C-1852-AE50-40242897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E00A9-EDD8-1462-EC00-6C77CAB2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3317-A604-3692-D392-26566BDB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28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B2088-A0C5-86D4-E01B-674D73D74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B777D-F48C-D589-927E-7908697C4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625AB-2687-B4F3-9BF0-1E9347B9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626D9-409F-AF37-1262-BE769D78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5C4D-2D39-FC34-3258-39FEE425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0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41543A-5B02-E26C-42CD-0614353BD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D99FE-AAC1-A3C7-9B69-AA272CD6B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86F26-285F-BE57-2081-688974C91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E40C0-76A0-4476-9CE6-0A105F4B80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DC4D0-FE73-7471-BF20-F7E963B7B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8D1F4-CC0D-6365-8612-1B2C50281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41377-DED7-4564-942D-5807469F5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3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E8FE5-6E4F-4AE9-DBD7-37798977BD97}"/>
              </a:ext>
            </a:extLst>
          </p:cNvPr>
          <p:cNvSpPr txBox="1"/>
          <p:nvPr/>
        </p:nvSpPr>
        <p:spPr>
          <a:xfrm>
            <a:off x="508000" y="304800"/>
            <a:ext cx="1041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244570"/>
                </a:solidFill>
                <a:latin typeface="Aptos Display" panose="020B0004020202020204" pitchFamily="34" charset="0"/>
              </a:rPr>
              <a:t>2026-2027 Accounting Cost Reduction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0147B-D67F-89C5-FC0D-2CDDF10EE098}"/>
              </a:ext>
            </a:extLst>
          </p:cNvPr>
          <p:cNvSpPr txBox="1"/>
          <p:nvPr/>
        </p:nvSpPr>
        <p:spPr>
          <a:xfrm>
            <a:off x="508000" y="762000"/>
            <a:ext cx="10922000" cy="4370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20">
                <a:solidFill>
                  <a:srgbClr val="5F6672"/>
                </a:solidFill>
                <a:latin typeface="Aptos" panose="020B0004020202020204" pitchFamily="34" charset="0"/>
              </a:rPr>
              <a:t>This plan aims to reduce Accounting operating cost through a combination of GBS migration and AI/Automation-led process optimization across AP/AR, GL, Collection and Invoicing.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7B29CD-6923-5020-93DE-F40F850CA115}"/>
              </a:ext>
            </a:extLst>
          </p:cNvPr>
          <p:cNvSpPr/>
          <p:nvPr/>
        </p:nvSpPr>
        <p:spPr>
          <a:xfrm>
            <a:off x="355600" y="1397000"/>
            <a:ext cx="3657600" cy="1168400"/>
          </a:xfrm>
          <a:prstGeom prst="roundRect">
            <a:avLst/>
          </a:prstGeom>
          <a:solidFill>
            <a:srgbClr val="E6EFFA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86938F-D22B-EB80-DEE3-97971C6B8C15}"/>
              </a:ext>
            </a:extLst>
          </p:cNvPr>
          <p:cNvSpPr/>
          <p:nvPr/>
        </p:nvSpPr>
        <p:spPr>
          <a:xfrm>
            <a:off x="355600" y="1397000"/>
            <a:ext cx="76200" cy="1168400"/>
          </a:xfrm>
          <a:prstGeom prst="rect">
            <a:avLst/>
          </a:prstGeom>
          <a:solidFill>
            <a:srgbClr val="3872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4C35D-CB72-695A-2C8B-559D8959F196}"/>
              </a:ext>
            </a:extLst>
          </p:cNvPr>
          <p:cNvSpPr txBox="1"/>
          <p:nvPr/>
        </p:nvSpPr>
        <p:spPr>
          <a:xfrm>
            <a:off x="508000" y="15240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5F6672"/>
                </a:solidFill>
                <a:latin typeface="Aptos" panose="020B0004020202020204" pitchFamily="34" charset="0"/>
              </a:rPr>
              <a:t>SAVINGS POTENTIAL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CE751-DF18-77AE-B706-842C7B06A69D}"/>
              </a:ext>
            </a:extLst>
          </p:cNvPr>
          <p:cNvSpPr txBox="1"/>
          <p:nvPr/>
        </p:nvSpPr>
        <p:spPr>
          <a:xfrm>
            <a:off x="508000" y="1752600"/>
            <a:ext cx="342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244570"/>
                </a:solidFill>
                <a:latin typeface="Aptos Display" panose="020B0004020202020204" pitchFamily="34" charset="0"/>
              </a:rPr>
              <a:t>$0.54M - 1.23M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DEE9A-1398-965F-6972-2EA59E060790}"/>
              </a:ext>
            </a:extLst>
          </p:cNvPr>
          <p:cNvSpPr txBox="1"/>
          <p:nvPr/>
        </p:nvSpPr>
        <p:spPr>
          <a:xfrm>
            <a:off x="508000" y="2108200"/>
            <a:ext cx="3429000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Low case without GBS: $544.2K</a:t>
            </a:r>
          </a:p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High case with GBS: $1.12M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EC1E7A-9485-CB97-85EC-9FA5C7120F1E}"/>
              </a:ext>
            </a:extLst>
          </p:cNvPr>
          <p:cNvSpPr/>
          <p:nvPr/>
        </p:nvSpPr>
        <p:spPr>
          <a:xfrm>
            <a:off x="4267200" y="1397000"/>
            <a:ext cx="3657600" cy="1168400"/>
          </a:xfrm>
          <a:prstGeom prst="roundRect">
            <a:avLst/>
          </a:prstGeom>
          <a:solidFill>
            <a:srgbClr val="E2F3EC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514A24-40ED-FBD3-BF1F-4B1D27B06A8E}"/>
              </a:ext>
            </a:extLst>
          </p:cNvPr>
          <p:cNvSpPr/>
          <p:nvPr/>
        </p:nvSpPr>
        <p:spPr>
          <a:xfrm>
            <a:off x="4267200" y="1397000"/>
            <a:ext cx="76200" cy="1168400"/>
          </a:xfrm>
          <a:prstGeom prst="rect">
            <a:avLst/>
          </a:prstGeom>
          <a:solidFill>
            <a:srgbClr val="2F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24CE7-D91D-4A3E-23EC-BF8C62DBA087}"/>
              </a:ext>
            </a:extLst>
          </p:cNvPr>
          <p:cNvSpPr txBox="1"/>
          <p:nvPr/>
        </p:nvSpPr>
        <p:spPr>
          <a:xfrm>
            <a:off x="4419600" y="15240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5F6672"/>
                </a:solidFill>
                <a:latin typeface="Aptos" panose="020B0004020202020204" pitchFamily="34" charset="0"/>
              </a:rPr>
              <a:t>INVESTMENT &amp; RETURN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17825-2D0A-C27A-FE5E-08E21A4D0C19}"/>
              </a:ext>
            </a:extLst>
          </p:cNvPr>
          <p:cNvSpPr txBox="1"/>
          <p:nvPr/>
        </p:nvSpPr>
        <p:spPr>
          <a:xfrm>
            <a:off x="4419600" y="1752600"/>
            <a:ext cx="342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244570"/>
                </a:solidFill>
                <a:latin typeface="Aptos Display" panose="020B0004020202020204" pitchFamily="34" charset="0"/>
              </a:rPr>
              <a:t>$150K / 0.8 - 2.6 yrs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D0D9A-A413-61A9-93FA-49F902B47DC6}"/>
              </a:ext>
            </a:extLst>
          </p:cNvPr>
          <p:cNvSpPr txBox="1"/>
          <p:nvPr/>
        </p:nvSpPr>
        <p:spPr>
          <a:xfrm>
            <a:off x="4419600" y="2108200"/>
            <a:ext cx="3429000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AI &amp; Automation investment: $150K</a:t>
            </a:r>
          </a:p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ROI range: 0.8 to 2.6 years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7EBA7F-F24E-91D3-42BC-09DD0D627563}"/>
              </a:ext>
            </a:extLst>
          </p:cNvPr>
          <p:cNvSpPr/>
          <p:nvPr/>
        </p:nvSpPr>
        <p:spPr>
          <a:xfrm>
            <a:off x="8178800" y="1397000"/>
            <a:ext cx="3657600" cy="1168400"/>
          </a:xfrm>
          <a:prstGeom prst="roundRect">
            <a:avLst/>
          </a:prstGeom>
          <a:solidFill>
            <a:srgbClr val="DFF1F2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61387-9180-95EC-624B-2F80388BE3F5}"/>
              </a:ext>
            </a:extLst>
          </p:cNvPr>
          <p:cNvSpPr/>
          <p:nvPr/>
        </p:nvSpPr>
        <p:spPr>
          <a:xfrm>
            <a:off x="8178800" y="1397000"/>
            <a:ext cx="76200" cy="1168400"/>
          </a:xfrm>
          <a:prstGeom prst="rect">
            <a:avLst/>
          </a:prstGeom>
          <a:solidFill>
            <a:srgbClr val="2A91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E1076-BDBA-CA2E-53A3-8650595C20FB}"/>
              </a:ext>
            </a:extLst>
          </p:cNvPr>
          <p:cNvSpPr txBox="1"/>
          <p:nvPr/>
        </p:nvSpPr>
        <p:spPr>
          <a:xfrm>
            <a:off x="8331200" y="15240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5F6672"/>
                </a:solidFill>
                <a:latin typeface="Aptos" panose="020B0004020202020204" pitchFamily="34" charset="0"/>
              </a:rPr>
              <a:t>IMPACT APPLICATION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6272E-8740-D59A-E63D-8F1C45C43ED8}"/>
              </a:ext>
            </a:extLst>
          </p:cNvPr>
          <p:cNvSpPr txBox="1"/>
          <p:nvPr/>
        </p:nvSpPr>
        <p:spPr>
          <a:xfrm>
            <a:off x="8331200" y="1752600"/>
            <a:ext cx="342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244570"/>
                </a:solidFill>
                <a:latin typeface="Aptos Display" panose="020B0004020202020204" pitchFamily="34" charset="0"/>
              </a:rPr>
              <a:t>5 + 3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A04D83-4634-8CEE-04A2-CCF81CEF02DB}"/>
              </a:ext>
            </a:extLst>
          </p:cNvPr>
          <p:cNvSpPr txBox="1"/>
          <p:nvPr/>
        </p:nvSpPr>
        <p:spPr>
          <a:xfrm>
            <a:off x="8331200" y="2108200"/>
            <a:ext cx="3429000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Existing: PCS / VAT / AR Portal / MDM / Credit</a:t>
            </a:r>
          </a:p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New: Enterprise WeChat / AI / RPA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6FA9A5-4332-6EA7-E15B-84A88B5B0E94}"/>
              </a:ext>
            </a:extLst>
          </p:cNvPr>
          <p:cNvSpPr/>
          <p:nvPr/>
        </p:nvSpPr>
        <p:spPr>
          <a:xfrm>
            <a:off x="355600" y="2946400"/>
            <a:ext cx="5461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5BF3CA-54A8-33CF-3149-0594542A50E5}"/>
              </a:ext>
            </a:extLst>
          </p:cNvPr>
          <p:cNvSpPr/>
          <p:nvPr/>
        </p:nvSpPr>
        <p:spPr>
          <a:xfrm>
            <a:off x="355600" y="2946400"/>
            <a:ext cx="50800" cy="1549400"/>
          </a:xfrm>
          <a:prstGeom prst="rect">
            <a:avLst/>
          </a:prstGeom>
          <a:solidFill>
            <a:srgbClr val="3872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FD659-B2A9-82B8-B5DE-BB3526BB176A}"/>
              </a:ext>
            </a:extLst>
          </p:cNvPr>
          <p:cNvSpPr txBox="1"/>
          <p:nvPr/>
        </p:nvSpPr>
        <p:spPr>
          <a:xfrm>
            <a:off x="482600" y="3048000"/>
            <a:ext cx="5232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3872C2"/>
                </a:solidFill>
                <a:latin typeface="Aptos Display" panose="020B0004020202020204" pitchFamily="34" charset="0"/>
              </a:rPr>
              <a:t>1. AP / 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BD64DC-AED0-1051-1A30-EB6CAE1E3B98}"/>
              </a:ext>
            </a:extLst>
          </p:cNvPr>
          <p:cNvSpPr txBox="1"/>
          <p:nvPr/>
        </p:nvSpPr>
        <p:spPr>
          <a:xfrm>
            <a:off x="482600" y="3276600"/>
            <a:ext cx="52324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18181B"/>
                </a:solidFill>
                <a:latin typeface="Aptos" panose="020B0004020202020204" pitchFamily="34" charset="0"/>
              </a:rPr>
              <a:t>Kickoff: Apr 2026 | Existed Cost: $1,715K | Saving Target: $520K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C000BF-0662-8A39-D2B3-2FEFA24DE96A}"/>
              </a:ext>
            </a:extLst>
          </p:cNvPr>
          <p:cNvSpPr txBox="1"/>
          <p:nvPr/>
        </p:nvSpPr>
        <p:spPr>
          <a:xfrm>
            <a:off x="482600" y="3556000"/>
            <a:ext cx="558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Actions: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70ABCF-CD8B-9D7F-6908-2087C43D09E6}"/>
              </a:ext>
            </a:extLst>
          </p:cNvPr>
          <p:cNvSpPr txBox="1"/>
          <p:nvPr/>
        </p:nvSpPr>
        <p:spPr>
          <a:xfrm>
            <a:off x="1066800" y="3543300"/>
            <a:ext cx="4622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18181B"/>
                </a:solidFill>
                <a:latin typeface="Aptos" panose="020B0004020202020204" pitchFamily="34" charset="0"/>
              </a:rPr>
              <a:t>Total HC 34, convert the AP/AR team to the GBS model; keep 8 HC in Shanghai and move 23 HC to GBS.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D886E-8414-7E15-3EC0-EC536D19D488}"/>
              </a:ext>
            </a:extLst>
          </p:cNvPr>
          <p:cNvSpPr txBox="1"/>
          <p:nvPr/>
        </p:nvSpPr>
        <p:spPr>
          <a:xfrm>
            <a:off x="482600" y="4013200"/>
            <a:ext cx="4572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Note: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739197-6037-9280-450C-06D5FDDA8322}"/>
              </a:ext>
            </a:extLst>
          </p:cNvPr>
          <p:cNvSpPr txBox="1"/>
          <p:nvPr/>
        </p:nvSpPr>
        <p:spPr>
          <a:xfrm>
            <a:off x="939800" y="4000500"/>
            <a:ext cx="4749800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60">
                <a:solidFill>
                  <a:srgbClr val="18181B"/>
                </a:solidFill>
                <a:latin typeface="Aptos" panose="020B0004020202020204" pitchFamily="34" charset="0"/>
              </a:rPr>
              <a:t>$20K / HC or 50% of China Cost, 9 months transition cycle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4C1C60-377A-8AA6-CE20-B654A09B7A3E}"/>
              </a:ext>
            </a:extLst>
          </p:cNvPr>
          <p:cNvSpPr/>
          <p:nvPr/>
        </p:nvSpPr>
        <p:spPr>
          <a:xfrm>
            <a:off x="6096000" y="2946400"/>
            <a:ext cx="5461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92E6F-A609-2907-43FB-C2BFC3AD7604}"/>
              </a:ext>
            </a:extLst>
          </p:cNvPr>
          <p:cNvSpPr/>
          <p:nvPr/>
        </p:nvSpPr>
        <p:spPr>
          <a:xfrm>
            <a:off x="6096000" y="2946400"/>
            <a:ext cx="50800" cy="1549400"/>
          </a:xfrm>
          <a:prstGeom prst="rect">
            <a:avLst/>
          </a:prstGeom>
          <a:solidFill>
            <a:srgbClr val="2A91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714434-ECFE-2783-9BE3-5A43A300986A}"/>
              </a:ext>
            </a:extLst>
          </p:cNvPr>
          <p:cNvSpPr txBox="1"/>
          <p:nvPr/>
        </p:nvSpPr>
        <p:spPr>
          <a:xfrm>
            <a:off x="6223000" y="3048000"/>
            <a:ext cx="5232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A9199"/>
                </a:solidFill>
                <a:latin typeface="Aptos Display" panose="020B0004020202020204" pitchFamily="34" charset="0"/>
              </a:rPr>
              <a:t>2. Collection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C87E36-AD15-0C0A-96D0-CF66AD5B0877}"/>
              </a:ext>
            </a:extLst>
          </p:cNvPr>
          <p:cNvSpPr txBox="1"/>
          <p:nvPr/>
        </p:nvSpPr>
        <p:spPr>
          <a:xfrm>
            <a:off x="6223000" y="3276600"/>
            <a:ext cx="52324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18181B"/>
                </a:solidFill>
                <a:latin typeface="Aptos" panose="020B0004020202020204" pitchFamily="34" charset="0"/>
              </a:rPr>
              <a:t>Kickoff: April 2026 | Existed Cost: $1,570K | Saving Target: $314K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7D7C8F-373A-BF7A-9D91-5B131479C064}"/>
              </a:ext>
            </a:extLst>
          </p:cNvPr>
          <p:cNvSpPr txBox="1"/>
          <p:nvPr/>
        </p:nvSpPr>
        <p:spPr>
          <a:xfrm>
            <a:off x="6223000" y="3556000"/>
            <a:ext cx="558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Actions: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E9C25D-57EC-A90B-C612-169DBE7BC8EF}"/>
              </a:ext>
            </a:extLst>
          </p:cNvPr>
          <p:cNvSpPr txBox="1"/>
          <p:nvPr/>
        </p:nvSpPr>
        <p:spPr>
          <a:xfrm>
            <a:off x="6807200" y="3543300"/>
            <a:ext cx="4622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18181B"/>
                </a:solidFill>
                <a:latin typeface="Aptos" panose="020B0004020202020204" pitchFamily="34" charset="0"/>
              </a:rPr>
              <a:t>Total HC 36, deliver around 20% savings through AI/Automation-enabled productivity improvement.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6E40D5-2E85-5DA4-EC69-B3942234FA2D}"/>
              </a:ext>
            </a:extLst>
          </p:cNvPr>
          <p:cNvSpPr txBox="1"/>
          <p:nvPr/>
        </p:nvSpPr>
        <p:spPr>
          <a:xfrm>
            <a:off x="6223000" y="4013200"/>
            <a:ext cx="4572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Note: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547F99-07F2-F34E-D152-F39FFFC8279A}"/>
              </a:ext>
            </a:extLst>
          </p:cNvPr>
          <p:cNvSpPr txBox="1"/>
          <p:nvPr/>
        </p:nvSpPr>
        <p:spPr>
          <a:xfrm>
            <a:off x="6680200" y="4000500"/>
            <a:ext cx="4749800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60">
                <a:solidFill>
                  <a:srgbClr val="18181B"/>
                </a:solidFill>
                <a:latin typeface="Aptos" panose="020B0004020202020204" pitchFamily="34" charset="0"/>
              </a:rPr>
              <a:t>Detailed scope to be identified.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6BAA5F9-B17F-EDA6-D8E1-08346BB5B255}"/>
              </a:ext>
            </a:extLst>
          </p:cNvPr>
          <p:cNvSpPr/>
          <p:nvPr/>
        </p:nvSpPr>
        <p:spPr>
          <a:xfrm>
            <a:off x="355600" y="4749800"/>
            <a:ext cx="5461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4C58B7-0EDD-F2E7-5322-184BE756A01D}"/>
              </a:ext>
            </a:extLst>
          </p:cNvPr>
          <p:cNvSpPr/>
          <p:nvPr/>
        </p:nvSpPr>
        <p:spPr>
          <a:xfrm>
            <a:off x="355600" y="4749800"/>
            <a:ext cx="50800" cy="1549400"/>
          </a:xfrm>
          <a:prstGeom prst="rect">
            <a:avLst/>
          </a:prstGeom>
          <a:solidFill>
            <a:srgbClr val="2F91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CAADD-D9C9-9A8B-5279-9605B50D59A5}"/>
              </a:ext>
            </a:extLst>
          </p:cNvPr>
          <p:cNvSpPr txBox="1"/>
          <p:nvPr/>
        </p:nvSpPr>
        <p:spPr>
          <a:xfrm>
            <a:off x="482600" y="4851400"/>
            <a:ext cx="5232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F9162"/>
                </a:solidFill>
                <a:latin typeface="Aptos Display" panose="020B0004020202020204" pitchFamily="34" charset="0"/>
              </a:rPr>
              <a:t>3. GL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39B6D9-4B8A-E59F-20DB-224B4E6FB4DA}"/>
              </a:ext>
            </a:extLst>
          </p:cNvPr>
          <p:cNvSpPr txBox="1"/>
          <p:nvPr/>
        </p:nvSpPr>
        <p:spPr>
          <a:xfrm>
            <a:off x="482600" y="5080000"/>
            <a:ext cx="52324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18181B"/>
                </a:solidFill>
                <a:latin typeface="Aptos" panose="020B0004020202020204" pitchFamily="34" charset="0"/>
              </a:rPr>
              <a:t>Kickoff: July 2026 | Existed Cost: $1,923K | Saving Target: $219K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5C8ADE-42DB-CD93-D86F-F95EA5C90AC8}"/>
              </a:ext>
            </a:extLst>
          </p:cNvPr>
          <p:cNvSpPr txBox="1"/>
          <p:nvPr/>
        </p:nvSpPr>
        <p:spPr>
          <a:xfrm>
            <a:off x="482600" y="5359400"/>
            <a:ext cx="558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Actions: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7AFE26-199E-A9EA-1BD0-B30851B466DC}"/>
              </a:ext>
            </a:extLst>
          </p:cNvPr>
          <p:cNvSpPr txBox="1"/>
          <p:nvPr/>
        </p:nvSpPr>
        <p:spPr>
          <a:xfrm>
            <a:off x="1066800" y="5346700"/>
            <a:ext cx="4622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18181B"/>
                </a:solidFill>
                <a:latin typeface="Aptos" panose="020B0004020202020204" pitchFamily="34" charset="0"/>
              </a:rPr>
              <a:t>Total HC 28, convert part of the GL team (14 FTE) to the GBS model after process mapping and operating-model validation.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A28F46-E115-437C-EDEE-8DAA7DDAEA0E}"/>
              </a:ext>
            </a:extLst>
          </p:cNvPr>
          <p:cNvSpPr txBox="1"/>
          <p:nvPr/>
        </p:nvSpPr>
        <p:spPr>
          <a:xfrm>
            <a:off x="482600" y="5816600"/>
            <a:ext cx="4572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Note: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DA55BF-9483-EE83-B272-B92C4A96845A}"/>
              </a:ext>
            </a:extLst>
          </p:cNvPr>
          <p:cNvSpPr txBox="1"/>
          <p:nvPr/>
        </p:nvSpPr>
        <p:spPr>
          <a:xfrm>
            <a:off x="939800" y="5803900"/>
            <a:ext cx="4749800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60">
                <a:solidFill>
                  <a:srgbClr val="18181B"/>
                </a:solidFill>
                <a:latin typeface="Aptos" panose="020B0004020202020204" pitchFamily="34" charset="0"/>
              </a:rPr>
              <a:t>100% band 5 and 30% band 6 move to GBS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0798D5-3299-1A68-97D3-C577CFE792BD}"/>
              </a:ext>
            </a:extLst>
          </p:cNvPr>
          <p:cNvSpPr/>
          <p:nvPr/>
        </p:nvSpPr>
        <p:spPr>
          <a:xfrm>
            <a:off x="6096000" y="4749800"/>
            <a:ext cx="5461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4F8983-EAF0-7E12-787A-547B13414760}"/>
              </a:ext>
            </a:extLst>
          </p:cNvPr>
          <p:cNvSpPr/>
          <p:nvPr/>
        </p:nvSpPr>
        <p:spPr>
          <a:xfrm>
            <a:off x="6096000" y="4749800"/>
            <a:ext cx="50800" cy="1549400"/>
          </a:xfrm>
          <a:prstGeom prst="rect">
            <a:avLst/>
          </a:prstGeom>
          <a:solidFill>
            <a:srgbClr val="E18B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E5053D-C927-D6BE-B3C3-7F1ED43DB425}"/>
              </a:ext>
            </a:extLst>
          </p:cNvPr>
          <p:cNvSpPr txBox="1"/>
          <p:nvPr/>
        </p:nvSpPr>
        <p:spPr>
          <a:xfrm>
            <a:off x="6223000" y="4851400"/>
            <a:ext cx="5232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E18B10"/>
                </a:solidFill>
                <a:latin typeface="Aptos Display" panose="020B0004020202020204" pitchFamily="34" charset="0"/>
              </a:rPr>
              <a:t>4. Invoicing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DFD743-81B4-38F8-5DA4-548114431FF8}"/>
              </a:ext>
            </a:extLst>
          </p:cNvPr>
          <p:cNvSpPr txBox="1"/>
          <p:nvPr/>
        </p:nvSpPr>
        <p:spPr>
          <a:xfrm>
            <a:off x="6223000" y="5080000"/>
            <a:ext cx="52324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18181B"/>
                </a:solidFill>
                <a:latin typeface="Aptos" panose="020B0004020202020204" pitchFamily="34" charset="0"/>
              </a:rPr>
              <a:t>Kickoff: April 2026 | Existed Cost: $398K | Saving Target: $70K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CB3ED2-EC54-2D83-59FE-4790C98F0DAB}"/>
              </a:ext>
            </a:extLst>
          </p:cNvPr>
          <p:cNvSpPr txBox="1"/>
          <p:nvPr/>
        </p:nvSpPr>
        <p:spPr>
          <a:xfrm>
            <a:off x="6223000" y="5359400"/>
            <a:ext cx="5588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Actions: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EA3AF0-762A-33FB-5EAF-010A59A5D0D5}"/>
              </a:ext>
            </a:extLst>
          </p:cNvPr>
          <p:cNvSpPr txBox="1"/>
          <p:nvPr/>
        </p:nvSpPr>
        <p:spPr>
          <a:xfrm>
            <a:off x="6807200" y="5346700"/>
            <a:ext cx="46228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18181B"/>
                </a:solidFill>
                <a:latin typeface="Aptos" panose="020B0004020202020204" pitchFamily="34" charset="0"/>
              </a:rPr>
              <a:t>Total HC 9, leverage AI/Automation to improve invoicing efficiency by about 20%.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DE9454-295F-8FE2-B0BE-3AF48D05BF01}"/>
              </a:ext>
            </a:extLst>
          </p:cNvPr>
          <p:cNvSpPr txBox="1"/>
          <p:nvPr/>
        </p:nvSpPr>
        <p:spPr>
          <a:xfrm>
            <a:off x="6223000" y="5816600"/>
            <a:ext cx="4572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 b="1">
                <a:solidFill>
                  <a:srgbClr val="5F6672"/>
                </a:solidFill>
                <a:latin typeface="Aptos" panose="020B0004020202020204" pitchFamily="34" charset="0"/>
              </a:rPr>
              <a:t>Note: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C39B64-7FD8-B31C-D6CA-9AF49AF1ADFF}"/>
              </a:ext>
            </a:extLst>
          </p:cNvPr>
          <p:cNvSpPr txBox="1"/>
          <p:nvPr/>
        </p:nvSpPr>
        <p:spPr>
          <a:xfrm>
            <a:off x="6680200" y="5803900"/>
            <a:ext cx="4749800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60">
                <a:solidFill>
                  <a:srgbClr val="18181B"/>
                </a:solidFill>
                <a:latin typeface="Aptos" panose="020B0004020202020204" pitchFamily="34" charset="0"/>
              </a:rPr>
              <a:t>Keeping local execution for compliance</a:t>
            </a:r>
          </a:p>
        </p:txBody>
      </p:sp>
    </p:spTree>
    <p:extLst>
      <p:ext uri="{BB962C8B-B14F-4D97-AF65-F5344CB8AC3E}">
        <p14:creationId xmlns:p14="http://schemas.microsoft.com/office/powerpoint/2010/main" val="109289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41EAA-2625-A697-2697-1251964B0C9B}"/>
              </a:ext>
            </a:extLst>
          </p:cNvPr>
          <p:cNvSpPr txBox="1"/>
          <p:nvPr/>
        </p:nvSpPr>
        <p:spPr>
          <a:xfrm>
            <a:off x="406400" y="304800"/>
            <a:ext cx="457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18181B"/>
                </a:solidFill>
                <a:latin typeface="Aptos Display" panose="020B0004020202020204" pitchFamily="34" charset="0"/>
              </a:rPr>
              <a:t>Business Current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A6CF1-D5AF-CED3-6643-CA8E7ED130BA}"/>
              </a:ext>
            </a:extLst>
          </p:cNvPr>
          <p:cNvSpPr txBox="1"/>
          <p:nvPr/>
        </p:nvSpPr>
        <p:spPr>
          <a:xfrm>
            <a:off x="406400" y="736600"/>
            <a:ext cx="5461000" cy="4370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20">
                <a:solidFill>
                  <a:srgbClr val="5F6672"/>
                </a:solidFill>
                <a:latin typeface="Aptos" panose="020B0004020202020204" pitchFamily="34" charset="0"/>
              </a:rPr>
              <a:t>Current FTE allocation by business step and legal entity, based on the latest workload snapshot.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A6293-49C3-991E-332E-FAF623D06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75175"/>
              </p:ext>
            </p:extLst>
          </p:nvPr>
        </p:nvGraphicFramePr>
        <p:xfrm>
          <a:off x="381000" y="1270000"/>
          <a:ext cx="774700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40569767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5852208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74667646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00918910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904556095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4045659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269363725"/>
                    </a:ext>
                  </a:extLst>
                </a:gridCol>
              </a:tblGrid>
              <a:tr h="410633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ITSC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AA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AB Service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CD Service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BJBP+CTC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5F6672"/>
                          </a:solidFill>
                        </a:rPr>
                        <a:t>HK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209814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01 Master Data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826831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02 Invoicing Support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10.50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411500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03 Reconciliation and Dispute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86072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04 Collection and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10.60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002571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05 Cash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861281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06 Notes or Special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310550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07 Escalation and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977668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08 Write-off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262259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09 Reporting and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507838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10 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D1672F"/>
                          </a:solidFill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40" b="0">
                          <a:solidFill>
                            <a:srgbClr val="18181B"/>
                          </a:solidFill>
                        </a:rP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100508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Total FTE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27.44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2.04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2.12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40" b="1">
                          <a:solidFill>
                            <a:srgbClr val="18181B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4455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9B46A5-98D3-7FED-D626-969FAB9A0C87}"/>
              </a:ext>
            </a:extLst>
          </p:cNvPr>
          <p:cNvSpPr/>
          <p:nvPr/>
        </p:nvSpPr>
        <p:spPr>
          <a:xfrm>
            <a:off x="8483600" y="1270000"/>
            <a:ext cx="2921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530EF-2283-0D51-5C8E-7F51251FDB6A}"/>
              </a:ext>
            </a:extLst>
          </p:cNvPr>
          <p:cNvSpPr txBox="1"/>
          <p:nvPr/>
        </p:nvSpPr>
        <p:spPr>
          <a:xfrm>
            <a:off x="8686800" y="1473200"/>
            <a:ext cx="114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F6672"/>
                </a:solidFill>
                <a:latin typeface="Aptos" panose="020B0004020202020204" pitchFamily="34" charset="0"/>
              </a:rPr>
              <a:t>Total FTE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F63D7-6637-9BA7-A209-C3C4D97AF9F3}"/>
              </a:ext>
            </a:extLst>
          </p:cNvPr>
          <p:cNvSpPr txBox="1"/>
          <p:nvPr/>
        </p:nvSpPr>
        <p:spPr>
          <a:xfrm>
            <a:off x="8686800" y="1752600"/>
            <a:ext cx="152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8181B"/>
                </a:solidFill>
                <a:latin typeface="Aptos Display" panose="020B0004020202020204" pitchFamily="34" charset="0"/>
              </a:rPr>
              <a:t>34.400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C6BDFB-F476-ABA6-792E-CF836BDE4CE4}"/>
              </a:ext>
            </a:extLst>
          </p:cNvPr>
          <p:cNvSpPr/>
          <p:nvPr/>
        </p:nvSpPr>
        <p:spPr>
          <a:xfrm>
            <a:off x="8483600" y="2336800"/>
            <a:ext cx="2921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8EE6D-C278-AF06-5701-A78B8AB951CF}"/>
              </a:ext>
            </a:extLst>
          </p:cNvPr>
          <p:cNvSpPr txBox="1"/>
          <p:nvPr/>
        </p:nvSpPr>
        <p:spPr>
          <a:xfrm>
            <a:off x="8686800" y="2540000"/>
            <a:ext cx="114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F6672"/>
                </a:solidFill>
                <a:latin typeface="Aptos" panose="020B0004020202020204" pitchFamily="34" charset="0"/>
              </a:rPr>
              <a:t>Target FTE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E96074-086A-B353-65F4-6572B6BAF71C}"/>
              </a:ext>
            </a:extLst>
          </p:cNvPr>
          <p:cNvSpPr txBox="1"/>
          <p:nvPr/>
        </p:nvSpPr>
        <p:spPr>
          <a:xfrm>
            <a:off x="8686800" y="2819400"/>
            <a:ext cx="152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8181B"/>
                </a:solidFill>
                <a:latin typeface="Aptos Display" panose="020B0004020202020204" pitchFamily="34" charset="0"/>
              </a:rPr>
              <a:t>6.880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66024-BB9C-AB6C-0016-C5418F2C8C7B}"/>
              </a:ext>
            </a:extLst>
          </p:cNvPr>
          <p:cNvSpPr txBox="1"/>
          <p:nvPr/>
        </p:nvSpPr>
        <p:spPr>
          <a:xfrm>
            <a:off x="8686800" y="3175000"/>
            <a:ext cx="139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F6672"/>
                </a:solidFill>
                <a:latin typeface="Aptos" panose="020B0004020202020204" pitchFamily="34" charset="0"/>
              </a:rPr>
              <a:t>20% of Total FTE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7FC280-4342-746C-5F19-DD5AA16674F0}"/>
              </a:ext>
            </a:extLst>
          </p:cNvPr>
          <p:cNvSpPr/>
          <p:nvPr/>
        </p:nvSpPr>
        <p:spPr>
          <a:xfrm>
            <a:off x="8483600" y="3632200"/>
            <a:ext cx="2921000" cy="256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9148AC-DB06-5126-55E8-DB26FFC23229}"/>
              </a:ext>
            </a:extLst>
          </p:cNvPr>
          <p:cNvSpPr txBox="1"/>
          <p:nvPr/>
        </p:nvSpPr>
        <p:spPr>
          <a:xfrm>
            <a:off x="8686800" y="3835400"/>
            <a:ext cx="114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F6672"/>
                </a:solidFill>
                <a:latin typeface="Aptos" panose="020B0004020202020204" pitchFamily="34" charset="0"/>
              </a:rPr>
              <a:t>FCST FTE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B1709-79F2-E5ED-7854-500688CD2607}"/>
              </a:ext>
            </a:extLst>
          </p:cNvPr>
          <p:cNvSpPr txBox="1"/>
          <p:nvPr/>
        </p:nvSpPr>
        <p:spPr>
          <a:xfrm>
            <a:off x="8686800" y="4114800"/>
            <a:ext cx="152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8181B"/>
                </a:solidFill>
                <a:latin typeface="Aptos Display" panose="020B0004020202020204" pitchFamily="34" charset="0"/>
              </a:rPr>
              <a:t>3.544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F7B389-8DFF-C16C-90B8-11FCB249055E}"/>
              </a:ext>
            </a:extLst>
          </p:cNvPr>
          <p:cNvSpPr txBox="1"/>
          <p:nvPr/>
        </p:nvSpPr>
        <p:spPr>
          <a:xfrm>
            <a:off x="8686800" y="4648200"/>
            <a:ext cx="152400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Under Review      3.000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09357-1FFE-2B64-05FD-1686F58E0CF8}"/>
              </a:ext>
            </a:extLst>
          </p:cNvPr>
          <p:cNvSpPr txBox="1"/>
          <p:nvPr/>
        </p:nvSpPr>
        <p:spPr>
          <a:xfrm>
            <a:off x="8686800" y="4978400"/>
            <a:ext cx="1524000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Pending Approval  0.056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78578-0CA6-9556-1FAC-38DCB3C309CD}"/>
              </a:ext>
            </a:extLst>
          </p:cNvPr>
          <p:cNvSpPr txBox="1"/>
          <p:nvPr/>
        </p:nvSpPr>
        <p:spPr>
          <a:xfrm>
            <a:off x="8686800" y="5308600"/>
            <a:ext cx="152400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Approved          0.000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B8895-1B15-6F44-2D21-F7844B800D85}"/>
              </a:ext>
            </a:extLst>
          </p:cNvPr>
          <p:cNvSpPr txBox="1"/>
          <p:nvPr/>
        </p:nvSpPr>
        <p:spPr>
          <a:xfrm>
            <a:off x="8686800" y="5638800"/>
            <a:ext cx="152400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18181B"/>
                </a:solidFill>
                <a:latin typeface="Aptos" panose="020B0004020202020204" pitchFamily="34" charset="0"/>
              </a:rPr>
              <a:t>Pending Quote     0.488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FE0EDD-DD5D-2AD7-6CA8-2FE90FC19ED5}"/>
              </a:ext>
            </a:extLst>
          </p:cNvPr>
          <p:cNvSpPr txBox="1"/>
          <p:nvPr/>
        </p:nvSpPr>
        <p:spPr>
          <a:xfrm>
            <a:off x="8483600" y="6324600"/>
            <a:ext cx="2921000" cy="3939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Current identified pipeline covers part of the target, with further conversion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273789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56B40-FF3F-C93C-8AAD-A75D658337CC}"/>
              </a:ext>
            </a:extLst>
          </p:cNvPr>
          <p:cNvSpPr txBox="1"/>
          <p:nvPr/>
        </p:nvSpPr>
        <p:spPr>
          <a:xfrm>
            <a:off x="508000" y="304800"/>
            <a:ext cx="431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18181B"/>
                </a:solidFill>
                <a:latin typeface="Aptos Display" panose="020B0004020202020204" pitchFamily="34" charset="0"/>
              </a:rPr>
              <a:t>Process Footprint 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A5283-6AD6-5BBB-2C46-4049D7D68DC2}"/>
              </a:ext>
            </a:extLst>
          </p:cNvPr>
          <p:cNvSpPr txBox="1"/>
          <p:nvPr/>
        </p:nvSpPr>
        <p:spPr>
          <a:xfrm>
            <a:off x="9245600" y="304800"/>
            <a:ext cx="104140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rgbClr val="5F6672"/>
                </a:solidFill>
                <a:latin typeface="Aptos" panose="020B0004020202020204" pitchFamily="34" charset="0"/>
              </a:rPr>
              <a:t>FTE Threshold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2C9849-A59C-5197-C7F2-FD6FCD20189A}"/>
              </a:ext>
            </a:extLst>
          </p:cNvPr>
          <p:cNvSpPr/>
          <p:nvPr/>
        </p:nvSpPr>
        <p:spPr>
          <a:xfrm>
            <a:off x="10312400" y="228600"/>
            <a:ext cx="9652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E0969-E73E-E5D2-A601-7AE559DACEE2}"/>
              </a:ext>
            </a:extLst>
          </p:cNvPr>
          <p:cNvSpPr txBox="1"/>
          <p:nvPr/>
        </p:nvSpPr>
        <p:spPr>
          <a:xfrm>
            <a:off x="10490200" y="304800"/>
            <a:ext cx="5588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18181B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D4D9F-B02A-1975-5919-032A4796490B}"/>
              </a:ext>
            </a:extLst>
          </p:cNvPr>
          <p:cNvSpPr txBox="1"/>
          <p:nvPr/>
        </p:nvSpPr>
        <p:spPr>
          <a:xfrm>
            <a:off x="9245600" y="609600"/>
            <a:ext cx="20320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Flows below this value are hidden.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1D269-C997-25C6-81D4-4659ED4A508B}"/>
              </a:ext>
            </a:extLst>
          </p:cNvPr>
          <p:cNvSpPr txBox="1"/>
          <p:nvPr/>
        </p:nvSpPr>
        <p:spPr>
          <a:xfrm>
            <a:off x="533400" y="787400"/>
            <a:ext cx="19050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Gray: No optimization potential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AB4A1-8FFA-41C6-1B1B-F270C0FB77FD}"/>
              </a:ext>
            </a:extLst>
          </p:cNvPr>
          <p:cNvSpPr txBox="1"/>
          <p:nvPr/>
        </p:nvSpPr>
        <p:spPr>
          <a:xfrm>
            <a:off x="2717800" y="787400"/>
            <a:ext cx="20320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Green: Click for detailed 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2574B-EDC6-9A1C-92E0-D43C82AF9562}"/>
              </a:ext>
            </a:extLst>
          </p:cNvPr>
          <p:cNvSpPr/>
          <p:nvPr/>
        </p:nvSpPr>
        <p:spPr>
          <a:xfrm>
            <a:off x="584200" y="1955800"/>
            <a:ext cx="4095750" cy="304800"/>
          </a:xfrm>
          <a:prstGeom prst="rect">
            <a:avLst/>
          </a:prstGeom>
          <a:solidFill>
            <a:srgbClr val="DFF1F2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5FF1D-8761-8D4B-DA98-B8FC8927B9DF}"/>
              </a:ext>
            </a:extLst>
          </p:cNvPr>
          <p:cNvSpPr txBox="1"/>
          <p:nvPr/>
        </p:nvSpPr>
        <p:spPr>
          <a:xfrm>
            <a:off x="584200" y="2006600"/>
            <a:ext cx="409575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50" b="1">
                <a:solidFill>
                  <a:srgbClr val="18181B"/>
                </a:solidFill>
                <a:latin typeface="Aptos" panose="020B0004020202020204" pitchFamily="34" charset="0"/>
              </a:rPr>
              <a:t>Pre-Invoice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5084A9-DDB6-62AE-2E65-8E7927AB7C58}"/>
              </a:ext>
            </a:extLst>
          </p:cNvPr>
          <p:cNvSpPr/>
          <p:nvPr/>
        </p:nvSpPr>
        <p:spPr>
          <a:xfrm>
            <a:off x="4679950" y="1955800"/>
            <a:ext cx="4095750" cy="304800"/>
          </a:xfrm>
          <a:prstGeom prst="rect">
            <a:avLst/>
          </a:prstGeom>
          <a:solidFill>
            <a:srgbClr val="E6EFFA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23C4B-DD45-73E5-C821-BE9B3AD1642A}"/>
              </a:ext>
            </a:extLst>
          </p:cNvPr>
          <p:cNvSpPr txBox="1"/>
          <p:nvPr/>
        </p:nvSpPr>
        <p:spPr>
          <a:xfrm>
            <a:off x="4679950" y="2006600"/>
            <a:ext cx="409575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50" b="1">
                <a:solidFill>
                  <a:srgbClr val="18181B"/>
                </a:solidFill>
                <a:latin typeface="Aptos" panose="020B0004020202020204" pitchFamily="34" charset="0"/>
              </a:rPr>
              <a:t>Collection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4F821C-379A-87BF-A5F9-CE2988D1CCBE}"/>
              </a:ext>
            </a:extLst>
          </p:cNvPr>
          <p:cNvSpPr/>
          <p:nvPr/>
        </p:nvSpPr>
        <p:spPr>
          <a:xfrm>
            <a:off x="8775700" y="1955800"/>
            <a:ext cx="2730500" cy="304800"/>
          </a:xfrm>
          <a:prstGeom prst="rect">
            <a:avLst/>
          </a:prstGeom>
          <a:solidFill>
            <a:srgbClr val="DFF1F2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012B3-0235-4C2C-9CEA-51D6C5AFA48E}"/>
              </a:ext>
            </a:extLst>
          </p:cNvPr>
          <p:cNvSpPr txBox="1"/>
          <p:nvPr/>
        </p:nvSpPr>
        <p:spPr>
          <a:xfrm>
            <a:off x="8775700" y="2006600"/>
            <a:ext cx="2730500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50" b="1">
                <a:solidFill>
                  <a:srgbClr val="18181B"/>
                </a:solidFill>
                <a:latin typeface="Aptos" panose="020B0004020202020204" pitchFamily="34" charset="0"/>
              </a:rPr>
              <a:t>Cash App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362C1-3073-D082-51E8-3CA5145447F0}"/>
              </a:ext>
            </a:extLst>
          </p:cNvPr>
          <p:cNvSpPr txBox="1"/>
          <p:nvPr/>
        </p:nvSpPr>
        <p:spPr>
          <a:xfrm rot="16200000">
            <a:off x="1348740" y="1879600"/>
            <a:ext cx="203200" cy="13696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Master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B245D-0713-6F3B-BBD6-2E9208A06219}"/>
              </a:ext>
            </a:extLst>
          </p:cNvPr>
          <p:cNvSpPr/>
          <p:nvPr/>
        </p:nvSpPr>
        <p:spPr>
          <a:xfrm>
            <a:off x="1157605" y="2336800"/>
            <a:ext cx="203200" cy="152400"/>
          </a:xfrm>
          <a:prstGeom prst="rect">
            <a:avLst/>
          </a:prstGeom>
          <a:solidFill>
            <a:srgbClr val="7C7C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8C5FA-4F3E-0773-6300-CDEAF387B78F}"/>
              </a:ext>
            </a:extLst>
          </p:cNvPr>
          <p:cNvSpPr txBox="1"/>
          <p:nvPr/>
        </p:nvSpPr>
        <p:spPr>
          <a:xfrm>
            <a:off x="802640" y="2540000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0.3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E60C46-3E81-E3D6-859D-7E699332C034}"/>
              </a:ext>
            </a:extLst>
          </p:cNvPr>
          <p:cNvSpPr txBox="1"/>
          <p:nvPr/>
        </p:nvSpPr>
        <p:spPr>
          <a:xfrm rot="16200000">
            <a:off x="2713990" y="1879600"/>
            <a:ext cx="203200" cy="18805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Special Invoice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0BABA0-08E4-5924-A69C-1BF5E5538BB4}"/>
              </a:ext>
            </a:extLst>
          </p:cNvPr>
          <p:cNvSpPr/>
          <p:nvPr/>
        </p:nvSpPr>
        <p:spPr>
          <a:xfrm>
            <a:off x="2522855" y="2336800"/>
            <a:ext cx="203200" cy="152400"/>
          </a:xfrm>
          <a:prstGeom prst="rect">
            <a:avLst/>
          </a:prstGeom>
          <a:solidFill>
            <a:srgbClr val="7C7C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3DCE3A-3985-4ACB-9E1B-3DF9F1CA9AB9}"/>
              </a:ext>
            </a:extLst>
          </p:cNvPr>
          <p:cNvSpPr txBox="1"/>
          <p:nvPr/>
        </p:nvSpPr>
        <p:spPr>
          <a:xfrm>
            <a:off x="2167890" y="2540000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0.4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52BF39-42F4-A103-5D23-927AD88DD8DB}"/>
              </a:ext>
            </a:extLst>
          </p:cNvPr>
          <p:cNvSpPr txBox="1"/>
          <p:nvPr/>
        </p:nvSpPr>
        <p:spPr>
          <a:xfrm rot="16200000">
            <a:off x="4079240" y="1879600"/>
            <a:ext cx="203200" cy="200824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Invoice Delivery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BAD544-E7C8-6964-720E-96EDF409D7FD}"/>
              </a:ext>
            </a:extLst>
          </p:cNvPr>
          <p:cNvSpPr/>
          <p:nvPr/>
        </p:nvSpPr>
        <p:spPr>
          <a:xfrm>
            <a:off x="3888105" y="2336800"/>
            <a:ext cx="203200" cy="368610"/>
          </a:xfrm>
          <a:prstGeom prst="rect">
            <a:avLst/>
          </a:prstGeom>
          <a:solidFill>
            <a:srgbClr val="7C7C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57311C-33B9-CFED-8079-CF2CA009416B}"/>
              </a:ext>
            </a:extLst>
          </p:cNvPr>
          <p:cNvSpPr txBox="1"/>
          <p:nvPr/>
        </p:nvSpPr>
        <p:spPr>
          <a:xfrm>
            <a:off x="3533140" y="2756210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1.4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D7A5CE-6328-4B74-BC6C-CEBA750D1E39}"/>
              </a:ext>
            </a:extLst>
          </p:cNvPr>
          <p:cNvSpPr txBox="1"/>
          <p:nvPr/>
        </p:nvSpPr>
        <p:spPr>
          <a:xfrm rot="16200000">
            <a:off x="5444490" y="1879600"/>
            <a:ext cx="203200" cy="9864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Dispute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873032-423A-5EFE-5C09-E77A6F320C52}"/>
              </a:ext>
            </a:extLst>
          </p:cNvPr>
          <p:cNvSpPr/>
          <p:nvPr/>
        </p:nvSpPr>
        <p:spPr>
          <a:xfrm>
            <a:off x="5253355" y="2336800"/>
            <a:ext cx="203200" cy="342280"/>
          </a:xfrm>
          <a:prstGeom prst="rect">
            <a:avLst/>
          </a:prstGeom>
          <a:solidFill>
            <a:srgbClr val="7C7C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0C8D4A-19C3-DA5C-4B31-E3CD2D56CB43}"/>
              </a:ext>
            </a:extLst>
          </p:cNvPr>
          <p:cNvSpPr txBox="1"/>
          <p:nvPr/>
        </p:nvSpPr>
        <p:spPr>
          <a:xfrm>
            <a:off x="4898390" y="2729880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1.3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D608B6-099B-CD55-5EEC-8D7A18B44054}"/>
              </a:ext>
            </a:extLst>
          </p:cNvPr>
          <p:cNvSpPr txBox="1"/>
          <p:nvPr/>
        </p:nvSpPr>
        <p:spPr>
          <a:xfrm rot="16200000">
            <a:off x="6809740" y="1879600"/>
            <a:ext cx="203200" cy="13696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Commitment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75AD5C-75E3-E0F3-CE54-7825DF54143A}"/>
              </a:ext>
            </a:extLst>
          </p:cNvPr>
          <p:cNvSpPr/>
          <p:nvPr/>
        </p:nvSpPr>
        <p:spPr>
          <a:xfrm>
            <a:off x="6618605" y="2336800"/>
            <a:ext cx="203200" cy="21590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ACD739-1D69-23E2-EBF7-117DD25639E6}"/>
              </a:ext>
            </a:extLst>
          </p:cNvPr>
          <p:cNvSpPr txBox="1"/>
          <p:nvPr/>
        </p:nvSpPr>
        <p:spPr>
          <a:xfrm>
            <a:off x="6263640" y="4546600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8.2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B6270F-6F4A-FA7E-73C5-BC607BF8529F}"/>
              </a:ext>
            </a:extLst>
          </p:cNvPr>
          <p:cNvSpPr txBox="1"/>
          <p:nvPr/>
        </p:nvSpPr>
        <p:spPr>
          <a:xfrm rot="16200000">
            <a:off x="8174990" y="1879600"/>
            <a:ext cx="203200" cy="11141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Tracking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0E2EC0-6FD8-79C0-1C12-907D47CE6225}"/>
              </a:ext>
            </a:extLst>
          </p:cNvPr>
          <p:cNvSpPr/>
          <p:nvPr/>
        </p:nvSpPr>
        <p:spPr>
          <a:xfrm>
            <a:off x="7983855" y="2336800"/>
            <a:ext cx="203200" cy="184305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5AAF93-E3FE-449E-6EAA-135FAE760557}"/>
              </a:ext>
            </a:extLst>
          </p:cNvPr>
          <p:cNvSpPr txBox="1"/>
          <p:nvPr/>
        </p:nvSpPr>
        <p:spPr>
          <a:xfrm>
            <a:off x="7628890" y="2571905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0.7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2C15AC-AADC-4E24-92F2-2A29197B9DC0}"/>
              </a:ext>
            </a:extLst>
          </p:cNvPr>
          <p:cNvSpPr txBox="1"/>
          <p:nvPr/>
        </p:nvSpPr>
        <p:spPr>
          <a:xfrm rot="16200000">
            <a:off x="9540240" y="1879600"/>
            <a:ext cx="203200" cy="13696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Allocation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DFFE6B-B2F0-AE34-0018-64E27CA892A1}"/>
              </a:ext>
            </a:extLst>
          </p:cNvPr>
          <p:cNvSpPr/>
          <p:nvPr/>
        </p:nvSpPr>
        <p:spPr>
          <a:xfrm>
            <a:off x="9349105" y="2336800"/>
            <a:ext cx="203200" cy="421268"/>
          </a:xfrm>
          <a:prstGeom prst="rect">
            <a:avLst/>
          </a:prstGeom>
          <a:solidFill>
            <a:srgbClr val="7C7C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BCB571-B73F-2077-93D0-1DC3B5AF46DF}"/>
              </a:ext>
            </a:extLst>
          </p:cNvPr>
          <p:cNvSpPr txBox="1"/>
          <p:nvPr/>
        </p:nvSpPr>
        <p:spPr>
          <a:xfrm>
            <a:off x="8994140" y="2808868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1.6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0B004C-6729-FEC9-4023-23EFEA0E535C}"/>
              </a:ext>
            </a:extLst>
          </p:cNvPr>
          <p:cNvSpPr txBox="1"/>
          <p:nvPr/>
        </p:nvSpPr>
        <p:spPr>
          <a:xfrm rot="16200000">
            <a:off x="10905490" y="1879600"/>
            <a:ext cx="203200" cy="14973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30">
                <a:solidFill>
                  <a:srgbClr val="323232"/>
                </a:solidFill>
                <a:latin typeface="Aptos" panose="020B0004020202020204" pitchFamily="34" charset="0"/>
              </a:rPr>
              <a:t>Data Support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3C704B-F2D0-D802-AB29-2E8C0353AF19}"/>
              </a:ext>
            </a:extLst>
          </p:cNvPr>
          <p:cNvSpPr/>
          <p:nvPr/>
        </p:nvSpPr>
        <p:spPr>
          <a:xfrm>
            <a:off x="10714355" y="2336800"/>
            <a:ext cx="203200" cy="157976"/>
          </a:xfrm>
          <a:prstGeom prst="rect">
            <a:avLst/>
          </a:prstGeom>
          <a:solidFill>
            <a:srgbClr val="7C7C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E2C0E8-8172-74E4-39D3-42BAFF88B83A}"/>
              </a:ext>
            </a:extLst>
          </p:cNvPr>
          <p:cNvSpPr txBox="1"/>
          <p:nvPr/>
        </p:nvSpPr>
        <p:spPr>
          <a:xfrm>
            <a:off x="10359390" y="2545576"/>
            <a:ext cx="955675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50">
                <a:solidFill>
                  <a:srgbClr val="5F6672"/>
                </a:solidFill>
                <a:latin typeface="Aptos" panose="020B0004020202020204" pitchFamily="34" charset="0"/>
              </a:rPr>
              <a:t>0.6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423FAA-08F5-6B1C-59C7-15A8C130FDDA}"/>
              </a:ext>
            </a:extLst>
          </p:cNvPr>
          <p:cNvSpPr txBox="1"/>
          <p:nvPr/>
        </p:nvSpPr>
        <p:spPr>
          <a:xfrm>
            <a:off x="584200" y="6350000"/>
            <a:ext cx="88900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Priority should stay on high-FTE flows with confirmed action linkage.</a:t>
            </a:r>
          </a:p>
        </p:txBody>
      </p:sp>
    </p:spTree>
    <p:extLst>
      <p:ext uri="{BB962C8B-B14F-4D97-AF65-F5344CB8AC3E}">
        <p14:creationId xmlns:p14="http://schemas.microsoft.com/office/powerpoint/2010/main" val="222905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25098F-F2BF-0C48-1386-188D64087C8D}"/>
              </a:ext>
            </a:extLst>
          </p:cNvPr>
          <p:cNvSpPr txBox="1"/>
          <p:nvPr/>
        </p:nvSpPr>
        <p:spPr>
          <a:xfrm>
            <a:off x="508000" y="3048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18181B"/>
                </a:solidFill>
                <a:latin typeface="Aptos Display" panose="020B0004020202020204" pitchFamily="34" charset="0"/>
              </a:rPr>
              <a:t>Identified Improvement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D5137-F2E3-2925-7EFE-0C598397417C}"/>
              </a:ext>
            </a:extLst>
          </p:cNvPr>
          <p:cNvSpPr txBox="1"/>
          <p:nvPr/>
        </p:nvSpPr>
        <p:spPr>
          <a:xfrm>
            <a:off x="508000" y="736600"/>
            <a:ext cx="4572000" cy="4370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20">
                <a:solidFill>
                  <a:srgbClr val="5F6672"/>
                </a:solidFill>
                <a:latin typeface="Aptos" panose="020B0004020202020204" pitchFamily="34" charset="0"/>
              </a:rPr>
              <a:t>Current change opportunities summarized from the workbook action sheet.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25CB8-412E-5E09-3D16-BCACA692F065}"/>
              </a:ext>
            </a:extLst>
          </p:cNvPr>
          <p:cNvSpPr txBox="1"/>
          <p:nvPr/>
        </p:nvSpPr>
        <p:spPr>
          <a:xfrm>
            <a:off x="508000" y="1066800"/>
            <a:ext cx="431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F6672"/>
                </a:solidFill>
                <a:latin typeface="Aptos" panose="020B0004020202020204" pitchFamily="34" charset="0"/>
              </a:rPr>
              <a:t>Focus: prioritize by maturity, FTE impact, and cost.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309CA4-4E3F-2A27-F4BC-48E92D31EC1C}"/>
              </a:ext>
            </a:extLst>
          </p:cNvPr>
          <p:cNvSpPr/>
          <p:nvPr/>
        </p:nvSpPr>
        <p:spPr>
          <a:xfrm>
            <a:off x="431800" y="1320800"/>
            <a:ext cx="2209800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655E9F-6F5E-8AEC-46EF-9D3237472400}"/>
              </a:ext>
            </a:extLst>
          </p:cNvPr>
          <p:cNvSpPr/>
          <p:nvPr/>
        </p:nvSpPr>
        <p:spPr>
          <a:xfrm>
            <a:off x="2794000" y="1320800"/>
            <a:ext cx="2209800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465B16-13FC-3CD4-B338-E469A31BAC6F}"/>
              </a:ext>
            </a:extLst>
          </p:cNvPr>
          <p:cNvSpPr/>
          <p:nvPr/>
        </p:nvSpPr>
        <p:spPr>
          <a:xfrm>
            <a:off x="5156200" y="1320800"/>
            <a:ext cx="2209800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2229D0-AA6E-2239-0199-998F142E0259}"/>
              </a:ext>
            </a:extLst>
          </p:cNvPr>
          <p:cNvSpPr/>
          <p:nvPr/>
        </p:nvSpPr>
        <p:spPr>
          <a:xfrm>
            <a:off x="7518400" y="1320800"/>
            <a:ext cx="2209800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BC3E62-B32D-0732-2537-B8A08F88A108}"/>
              </a:ext>
            </a:extLst>
          </p:cNvPr>
          <p:cNvSpPr/>
          <p:nvPr/>
        </p:nvSpPr>
        <p:spPr>
          <a:xfrm>
            <a:off x="9880600" y="1320800"/>
            <a:ext cx="1879600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E215C7-73AE-1B0B-B699-6F24A7C88D41}"/>
              </a:ext>
            </a:extLst>
          </p:cNvPr>
          <p:cNvSpPr txBox="1"/>
          <p:nvPr/>
        </p:nvSpPr>
        <p:spPr>
          <a:xfrm>
            <a:off x="609600" y="1422400"/>
            <a:ext cx="17780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System / Step / Status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709002-C17E-36F9-7665-08A10CB5ACEE}"/>
              </a:ext>
            </a:extLst>
          </p:cNvPr>
          <p:cNvSpPr txBox="1"/>
          <p:nvPr/>
        </p:nvSpPr>
        <p:spPr>
          <a:xfrm>
            <a:off x="2971800" y="1422400"/>
            <a:ext cx="15240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77CC7-2961-1FD7-2857-348FD06271BB}"/>
              </a:ext>
            </a:extLst>
          </p:cNvPr>
          <p:cNvSpPr txBox="1"/>
          <p:nvPr/>
        </p:nvSpPr>
        <p:spPr>
          <a:xfrm>
            <a:off x="5334000" y="1422400"/>
            <a:ext cx="17780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Default Order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0AD05-5736-3283-060C-B3ABB718489B}"/>
              </a:ext>
            </a:extLst>
          </p:cNvPr>
          <p:cNvSpPr txBox="1"/>
          <p:nvPr/>
        </p:nvSpPr>
        <p:spPr>
          <a:xfrm>
            <a:off x="7696200" y="1422400"/>
            <a:ext cx="17780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FTE / Cost Sort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6C967-C2E4-CA4B-0043-4E646B527624}"/>
              </a:ext>
            </a:extLst>
          </p:cNvPr>
          <p:cNvSpPr txBox="1"/>
          <p:nvPr/>
        </p:nvSpPr>
        <p:spPr>
          <a:xfrm>
            <a:off x="10058400" y="1422400"/>
            <a:ext cx="1397000" cy="2431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80">
                <a:solidFill>
                  <a:srgbClr val="5F6672"/>
                </a:solidFill>
                <a:latin typeface="Aptos" panose="020B0004020202020204" pitchFamily="34" charset="0"/>
              </a:rPr>
              <a:t>Card View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BD5903-27DA-0855-9F65-E219AF887C1B}"/>
              </a:ext>
            </a:extLst>
          </p:cNvPr>
          <p:cNvSpPr/>
          <p:nvPr/>
        </p:nvSpPr>
        <p:spPr>
          <a:xfrm>
            <a:off x="431800" y="19558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1FA7EF-4AAB-92F1-F120-E767BA905DB1}"/>
              </a:ext>
            </a:extLst>
          </p:cNvPr>
          <p:cNvSpPr/>
          <p:nvPr/>
        </p:nvSpPr>
        <p:spPr>
          <a:xfrm>
            <a:off x="431800" y="1955800"/>
            <a:ext cx="3556000" cy="381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56507C-78F4-986A-90AD-61A3B36C8A49}"/>
              </a:ext>
            </a:extLst>
          </p:cNvPr>
          <p:cNvSpPr txBox="1"/>
          <p:nvPr/>
        </p:nvSpPr>
        <p:spPr>
          <a:xfrm>
            <a:off x="584200" y="2082800"/>
            <a:ext cx="32004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 b="1">
                <a:solidFill>
                  <a:srgbClr val="18181B"/>
                </a:solidFill>
                <a:latin typeface="Aptos Display" panose="020B0004020202020204" pitchFamily="34" charset="0"/>
              </a:rPr>
              <a:t>Use Enterprise WeChat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6200ED-E930-38F8-1CFD-14B8FB3B51A5}"/>
              </a:ext>
            </a:extLst>
          </p:cNvPr>
          <p:cNvSpPr txBox="1"/>
          <p:nvPr/>
        </p:nvSpPr>
        <p:spPr>
          <a:xfrm>
            <a:off x="584200" y="2514600"/>
            <a:ext cx="838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Type: New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9035FE-F9BE-F584-E7E9-274E1713C109}"/>
              </a:ext>
            </a:extLst>
          </p:cNvPr>
          <p:cNvSpPr txBox="1"/>
          <p:nvPr/>
        </p:nvSpPr>
        <p:spPr>
          <a:xfrm>
            <a:off x="1574800" y="2514600"/>
            <a:ext cx="8128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FTE: 1.000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80CDEC-12E2-B218-B7C8-22036E1D1004}"/>
              </a:ext>
            </a:extLst>
          </p:cNvPr>
          <p:cNvSpPr txBox="1"/>
          <p:nvPr/>
        </p:nvSpPr>
        <p:spPr>
          <a:xfrm>
            <a:off x="2565400" y="2514600"/>
            <a:ext cx="1219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Cost: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AFDEB2-7E5B-6591-B051-AC1698F5F03D}"/>
              </a:ext>
            </a:extLst>
          </p:cNvPr>
          <p:cNvSpPr txBox="1"/>
          <p:nvPr/>
        </p:nvSpPr>
        <p:spPr>
          <a:xfrm>
            <a:off x="584200" y="2870200"/>
            <a:ext cx="32004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Reduce repetitive reminder work and improve communication traceability.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B2BE351-4C59-FB2C-7CD9-383276A8B649}"/>
              </a:ext>
            </a:extLst>
          </p:cNvPr>
          <p:cNvSpPr/>
          <p:nvPr/>
        </p:nvSpPr>
        <p:spPr>
          <a:xfrm>
            <a:off x="4318000" y="19558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5FAC97-2C59-9068-831F-8F2FE360CFDB}"/>
              </a:ext>
            </a:extLst>
          </p:cNvPr>
          <p:cNvSpPr/>
          <p:nvPr/>
        </p:nvSpPr>
        <p:spPr>
          <a:xfrm>
            <a:off x="4318000" y="1955800"/>
            <a:ext cx="3556000" cy="381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EFA28E-3C9E-A51D-B6D1-9CF9DF127021}"/>
              </a:ext>
            </a:extLst>
          </p:cNvPr>
          <p:cNvSpPr txBox="1"/>
          <p:nvPr/>
        </p:nvSpPr>
        <p:spPr>
          <a:xfrm>
            <a:off x="4470400" y="2082800"/>
            <a:ext cx="32004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 b="1">
                <a:solidFill>
                  <a:srgbClr val="18181B"/>
                </a:solidFill>
                <a:latin typeface="Aptos Display" panose="020B0004020202020204" pitchFamily="34" charset="0"/>
              </a:rPr>
              <a:t>Enterprise WeChat + AI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377879-E36A-97B9-F44D-7C67850D0DAA}"/>
              </a:ext>
            </a:extLst>
          </p:cNvPr>
          <p:cNvSpPr txBox="1"/>
          <p:nvPr/>
        </p:nvSpPr>
        <p:spPr>
          <a:xfrm>
            <a:off x="4470400" y="2514600"/>
            <a:ext cx="838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Type: AI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CE5EF9-5CBA-AB70-A103-D5FCB6CEDC7D}"/>
              </a:ext>
            </a:extLst>
          </p:cNvPr>
          <p:cNvSpPr txBox="1"/>
          <p:nvPr/>
        </p:nvSpPr>
        <p:spPr>
          <a:xfrm>
            <a:off x="5461000" y="2514600"/>
            <a:ext cx="8128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FTE: 2.000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BEAAFE-48FE-4DC2-C085-4A1A8E545708}"/>
              </a:ext>
            </a:extLst>
          </p:cNvPr>
          <p:cNvSpPr txBox="1"/>
          <p:nvPr/>
        </p:nvSpPr>
        <p:spPr>
          <a:xfrm>
            <a:off x="6451600" y="2514600"/>
            <a:ext cx="1219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Cost: 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C7D44-9D4B-033D-C144-820BD19FF66A}"/>
              </a:ext>
            </a:extLst>
          </p:cNvPr>
          <p:cNvSpPr txBox="1"/>
          <p:nvPr/>
        </p:nvSpPr>
        <p:spPr>
          <a:xfrm>
            <a:off x="4470400" y="2870200"/>
            <a:ext cx="32004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Enable layered handling and automation through AI-backed workflow.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938A1C5-6FC3-FB3D-62F1-7620E2402495}"/>
              </a:ext>
            </a:extLst>
          </p:cNvPr>
          <p:cNvSpPr/>
          <p:nvPr/>
        </p:nvSpPr>
        <p:spPr>
          <a:xfrm>
            <a:off x="8204200" y="19558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EBD82D-80C1-1AF5-6432-F22E5EE762F1}"/>
              </a:ext>
            </a:extLst>
          </p:cNvPr>
          <p:cNvSpPr/>
          <p:nvPr/>
        </p:nvSpPr>
        <p:spPr>
          <a:xfrm>
            <a:off x="8204200" y="1955800"/>
            <a:ext cx="3556000" cy="381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EE11C4-A051-3DAB-53D0-9F747A891BE3}"/>
              </a:ext>
            </a:extLst>
          </p:cNvPr>
          <p:cNvSpPr txBox="1"/>
          <p:nvPr/>
        </p:nvSpPr>
        <p:spPr>
          <a:xfrm>
            <a:off x="8356600" y="2082800"/>
            <a:ext cx="32004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 b="1">
                <a:solidFill>
                  <a:srgbClr val="18181B"/>
                </a:solidFill>
                <a:latin typeface="Aptos Display" panose="020B0004020202020204" pitchFamily="34" charset="0"/>
              </a:rPr>
              <a:t>Credit receipt capture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02863-2375-488A-FDAA-FDBB718DDF77}"/>
              </a:ext>
            </a:extLst>
          </p:cNvPr>
          <p:cNvSpPr txBox="1"/>
          <p:nvPr/>
        </p:nvSpPr>
        <p:spPr>
          <a:xfrm>
            <a:off x="8356600" y="2514600"/>
            <a:ext cx="838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Type: CR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25CAEB-A5B1-8085-119F-D0CB16A8A8C5}"/>
              </a:ext>
            </a:extLst>
          </p:cNvPr>
          <p:cNvSpPr txBox="1"/>
          <p:nvPr/>
        </p:nvSpPr>
        <p:spPr>
          <a:xfrm>
            <a:off x="9347200" y="2514600"/>
            <a:ext cx="8128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FTE: 0.100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7221B4-6593-4776-F5B6-9ED4EDA54688}"/>
              </a:ext>
            </a:extLst>
          </p:cNvPr>
          <p:cNvSpPr txBox="1"/>
          <p:nvPr/>
        </p:nvSpPr>
        <p:spPr>
          <a:xfrm>
            <a:off x="10337800" y="2514600"/>
            <a:ext cx="1219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Cost: 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1E4204-D9CA-3B87-38E4-14C152A04B3F}"/>
              </a:ext>
            </a:extLst>
          </p:cNvPr>
          <p:cNvSpPr txBox="1"/>
          <p:nvPr/>
        </p:nvSpPr>
        <p:spPr>
          <a:xfrm>
            <a:off x="8356600" y="2870200"/>
            <a:ext cx="32004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Pull bank receipt data into Credit and reduce manual collection effort.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4B676A3-35F1-AC41-4C13-7E63769C96F3}"/>
              </a:ext>
            </a:extLst>
          </p:cNvPr>
          <p:cNvSpPr/>
          <p:nvPr/>
        </p:nvSpPr>
        <p:spPr>
          <a:xfrm>
            <a:off x="431800" y="42418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0F6AD7-B6FB-8A0F-E2F7-FEFDA7C0185F}"/>
              </a:ext>
            </a:extLst>
          </p:cNvPr>
          <p:cNvSpPr/>
          <p:nvPr/>
        </p:nvSpPr>
        <p:spPr>
          <a:xfrm>
            <a:off x="431800" y="4241800"/>
            <a:ext cx="3556000" cy="381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86071A-7A2D-D4F0-AED0-9A87F223AB1B}"/>
              </a:ext>
            </a:extLst>
          </p:cNvPr>
          <p:cNvSpPr txBox="1"/>
          <p:nvPr/>
        </p:nvSpPr>
        <p:spPr>
          <a:xfrm>
            <a:off x="584200" y="4368800"/>
            <a:ext cx="32004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 b="1">
                <a:solidFill>
                  <a:srgbClr val="18181B"/>
                </a:solidFill>
                <a:latin typeface="Aptos Display" panose="020B0004020202020204" pitchFamily="34" charset="0"/>
              </a:rPr>
              <a:t>Payment habit field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6479A7-D2C3-F43B-242F-901BED2D5857}"/>
              </a:ext>
            </a:extLst>
          </p:cNvPr>
          <p:cNvSpPr txBox="1"/>
          <p:nvPr/>
        </p:nvSpPr>
        <p:spPr>
          <a:xfrm>
            <a:off x="584200" y="4800600"/>
            <a:ext cx="838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Type: CR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8C62BA-B028-94AB-BE7C-7223930951A3}"/>
              </a:ext>
            </a:extLst>
          </p:cNvPr>
          <p:cNvSpPr txBox="1"/>
          <p:nvPr/>
        </p:nvSpPr>
        <p:spPr>
          <a:xfrm>
            <a:off x="1574800" y="4800600"/>
            <a:ext cx="8128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FTE: 0.010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07A3F6-0EF1-0641-15A6-A32B94D63272}"/>
              </a:ext>
            </a:extLst>
          </p:cNvPr>
          <p:cNvSpPr txBox="1"/>
          <p:nvPr/>
        </p:nvSpPr>
        <p:spPr>
          <a:xfrm>
            <a:off x="2565400" y="4800600"/>
            <a:ext cx="1219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Cost: 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FF399E-ED35-09BC-323A-81EE7019462A}"/>
              </a:ext>
            </a:extLst>
          </p:cNvPr>
          <p:cNvSpPr txBox="1"/>
          <p:nvPr/>
        </p:nvSpPr>
        <p:spPr>
          <a:xfrm>
            <a:off x="584200" y="5156200"/>
            <a:ext cx="32004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Add customer payment behavior field for quicker review and analysis.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255681E-0BF8-FEB8-4EC7-0A683DA3FE7E}"/>
              </a:ext>
            </a:extLst>
          </p:cNvPr>
          <p:cNvSpPr/>
          <p:nvPr/>
        </p:nvSpPr>
        <p:spPr>
          <a:xfrm>
            <a:off x="4318000" y="42418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CCC507-3DD7-A52A-2AF8-659E18285A93}"/>
              </a:ext>
            </a:extLst>
          </p:cNvPr>
          <p:cNvSpPr/>
          <p:nvPr/>
        </p:nvSpPr>
        <p:spPr>
          <a:xfrm>
            <a:off x="4318000" y="4241800"/>
            <a:ext cx="3556000" cy="381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0D6FCE-E5B7-0BB8-31EF-83E1716002BA}"/>
              </a:ext>
            </a:extLst>
          </p:cNvPr>
          <p:cNvSpPr txBox="1"/>
          <p:nvPr/>
        </p:nvSpPr>
        <p:spPr>
          <a:xfrm>
            <a:off x="4470400" y="4368800"/>
            <a:ext cx="32004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 b="1">
                <a:solidFill>
                  <a:srgbClr val="18181B"/>
                </a:solidFill>
                <a:latin typeface="Aptos Display" panose="020B0004020202020204" pitchFamily="34" charset="0"/>
              </a:rPr>
              <a:t>Structured follow-up format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0BDF34-868A-C3C0-FD98-146DB616B396}"/>
              </a:ext>
            </a:extLst>
          </p:cNvPr>
          <p:cNvSpPr txBox="1"/>
          <p:nvPr/>
        </p:nvSpPr>
        <p:spPr>
          <a:xfrm>
            <a:off x="4470400" y="4800600"/>
            <a:ext cx="838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Type: CR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15B221-AA5C-8530-9122-20EEBB91AF0D}"/>
              </a:ext>
            </a:extLst>
          </p:cNvPr>
          <p:cNvSpPr txBox="1"/>
          <p:nvPr/>
        </p:nvSpPr>
        <p:spPr>
          <a:xfrm>
            <a:off x="5461000" y="4800600"/>
            <a:ext cx="8128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FTE: 0.090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AFA970-6C93-5110-5E45-5CDFC6159097}"/>
              </a:ext>
            </a:extLst>
          </p:cNvPr>
          <p:cNvSpPr txBox="1"/>
          <p:nvPr/>
        </p:nvSpPr>
        <p:spPr>
          <a:xfrm>
            <a:off x="6451600" y="4800600"/>
            <a:ext cx="1219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Cost: 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562E16-76A7-FA92-946A-3B360621F642}"/>
              </a:ext>
            </a:extLst>
          </p:cNvPr>
          <p:cNvSpPr txBox="1"/>
          <p:nvPr/>
        </p:nvSpPr>
        <p:spPr>
          <a:xfrm>
            <a:off x="4470400" y="5156200"/>
            <a:ext cx="32004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Standardize collection records to reduce duplicate clarification.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B75F8EB-92FC-F5FA-B7CB-90FE9E6D3250}"/>
              </a:ext>
            </a:extLst>
          </p:cNvPr>
          <p:cNvSpPr/>
          <p:nvPr/>
        </p:nvSpPr>
        <p:spPr>
          <a:xfrm>
            <a:off x="8204200" y="42418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C777AB4-F1C3-8A8B-DECA-91E67CD45B22}"/>
              </a:ext>
            </a:extLst>
          </p:cNvPr>
          <p:cNvSpPr/>
          <p:nvPr/>
        </p:nvSpPr>
        <p:spPr>
          <a:xfrm>
            <a:off x="8204200" y="4241800"/>
            <a:ext cx="3556000" cy="38100"/>
          </a:xfrm>
          <a:prstGeom prst="rect">
            <a:avLst/>
          </a:prstGeom>
          <a:solidFill>
            <a:srgbClr val="1F7A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2E1618-E0D4-6C50-9F6E-F9C452767C21}"/>
              </a:ext>
            </a:extLst>
          </p:cNvPr>
          <p:cNvSpPr txBox="1"/>
          <p:nvPr/>
        </p:nvSpPr>
        <p:spPr>
          <a:xfrm>
            <a:off x="8356600" y="4368800"/>
            <a:ext cx="32004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50" b="1">
                <a:solidFill>
                  <a:srgbClr val="18181B"/>
                </a:solidFill>
                <a:latin typeface="Aptos Display" panose="020B0004020202020204" pitchFamily="34" charset="0"/>
              </a:rPr>
              <a:t>Invoice line sequence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F75D37-9B39-680E-8DC8-9149934AC3D0}"/>
              </a:ext>
            </a:extLst>
          </p:cNvPr>
          <p:cNvSpPr txBox="1"/>
          <p:nvPr/>
        </p:nvSpPr>
        <p:spPr>
          <a:xfrm>
            <a:off x="8356600" y="4800600"/>
            <a:ext cx="838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Type: CR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2A9502-977A-A675-8CCF-81291E63B2E9}"/>
              </a:ext>
            </a:extLst>
          </p:cNvPr>
          <p:cNvSpPr txBox="1"/>
          <p:nvPr/>
        </p:nvSpPr>
        <p:spPr>
          <a:xfrm>
            <a:off x="9347200" y="4800600"/>
            <a:ext cx="8128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FTE: 0.020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8565F5-B085-E23D-2460-F4794D853FD2}"/>
              </a:ext>
            </a:extLst>
          </p:cNvPr>
          <p:cNvSpPr txBox="1"/>
          <p:nvPr/>
        </p:nvSpPr>
        <p:spPr>
          <a:xfrm>
            <a:off x="10337800" y="4800600"/>
            <a:ext cx="12192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 b="1">
                <a:solidFill>
                  <a:srgbClr val="18181B"/>
                </a:solidFill>
                <a:latin typeface="Aptos" panose="020B0004020202020204" pitchFamily="34" charset="0"/>
              </a:rPr>
              <a:t>Cost: CNY 100,000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5C7E24-457B-F236-194E-FA0FB4535ABE}"/>
              </a:ext>
            </a:extLst>
          </p:cNvPr>
          <p:cNvSpPr txBox="1"/>
          <p:nvPr/>
        </p:nvSpPr>
        <p:spPr>
          <a:xfrm>
            <a:off x="8356600" y="5156200"/>
            <a:ext cx="32004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5F6672"/>
                </a:solidFill>
                <a:latin typeface="Aptos" panose="020B0004020202020204" pitchFamily="34" charset="0"/>
              </a:rPr>
              <a:t>Adjust line-item sequence in invoice systems after business approval.</a:t>
            </a:r>
          </a:p>
        </p:txBody>
      </p:sp>
    </p:spTree>
    <p:extLst>
      <p:ext uri="{BB962C8B-B14F-4D97-AF65-F5344CB8AC3E}">
        <p14:creationId xmlns:p14="http://schemas.microsoft.com/office/powerpoint/2010/main" val="346461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Custom</PresentationFormat>
  <Paragraphs>200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Thermo Fisher Scientific,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Lu, Sky</dc:creator>
  <cp:lastModifiedBy>Lu, Sky</cp:lastModifiedBy>
  <cp:revision>1</cp:revision>
  <dcterms:created xsi:type="dcterms:W3CDTF">2026-04-08T08:44:46Z</dcterms:created>
  <dcterms:modified xsi:type="dcterms:W3CDTF">2026-04-08T08:44:46Z</dcterms:modified>
</cp:coreProperties>
</file>